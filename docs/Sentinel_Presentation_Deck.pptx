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UTKRISHTA 2026 AI/ML HACKATHON — CHALLENGE 2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SENTINEL: Adaptive Time-Series Anomaly Detection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A Causally-Strict, Deep &amp; Statistical Streaming Ensemble with Anti-Contamination Baseline Guards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Team Lead &amp; AI/ML Architect: Satya Boli</a:t>
            </a:r>
            <a:br/>
            <a:r>
              <a:t>• Track: Challenge 2 (Sentinel Adaptive Anomaly Detection)</a:t>
            </a:r>
            <a:br/>
            <a:r>
              <a:t>• GitHub: https://github.com/SatyaBoli/NEWW (Branch: feature/minimalist-gold-dashboard)</a:t>
            </a:r>
            <a:br/>
            <a:r>
              <a:t>• Hardware: NVIDIA GeForce RTX 5050 Laptop GPU (CUDA 13.2, Blackwell CC 12.0)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Real-Time Telemetry Dilemma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Operational failure modes in streaming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38BDF8"/>
                </a:solidFill>
              </a:rPr>
              <a:t>• Strict Causality (No Lookahead Bias):</a:t>
            </a:r>
            <a:r>
              <a:rPr sz="1500">
                <a:solidFill>
                  <a:srgbClr val="F8FAFC"/>
                </a:solidFill>
              </a:rPr>
              <a:t> In production operations, decisions at step t can only depend on past history x_{&lt;t}. Batch algorithms (Isolation Forest, seasonal decomposition) leak future context.</a:t>
            </a:r>
          </a:p>
          <a:p>
            <a:r>
              <a:rPr b="1" sz="1500">
                <a:solidFill>
                  <a:srgbClr val="38BDF8"/>
                </a:solidFill>
              </a:rPr>
              <a:t>• Baseline Contamination Attack:</a:t>
            </a:r>
            <a:r>
              <a:rPr sz="1500">
                <a:solidFill>
                  <a:srgbClr val="F8FAFC"/>
                </a:solidFill>
              </a:rPr>
              <a:t> When an infrastructure failure begins, anomalous values enter rolling statistics (mean, variance). Within minutes, the baseline distorts and normalizes the anomaly!</a:t>
            </a:r>
          </a:p>
          <a:p>
            <a:r>
              <a:rPr b="1" sz="1500">
                <a:solidFill>
                  <a:srgbClr val="38BDF8"/>
                </a:solidFill>
              </a:rPr>
              <a:t>• Alert Flapping &amp; Noise:</a:t>
            </a:r>
            <a:r>
              <a:rPr sz="1500">
                <a:solidFill>
                  <a:srgbClr val="F8FAFC"/>
                </a:solidFill>
              </a:rPr>
              <a:t> Single-threshold systems oscillate at the decision boundary, bombarding SRE teams with hundreds of fragmented alarms for a single incident.</a:t>
            </a:r>
          </a:p>
          <a:p>
            <a:r>
              <a:rPr b="1" sz="1500">
                <a:solidFill>
                  <a:srgbClr val="38BDF8"/>
                </a:solidFill>
              </a:rPr>
              <a:t>• Concept Drift vs. Incidents:</a:t>
            </a:r>
            <a:r>
              <a:rPr sz="1500">
                <a:solidFill>
                  <a:srgbClr val="F8FAFC"/>
                </a:solidFill>
              </a:rPr>
              <a:t> True operational shifts (e.g., scheduled diurnal traffic growth or VM resizing) must be learned without confusing them with acute incidents.</a:t>
            </a:r>
          </a:p>
          <a:p>
            <a:r>
              <a:rPr b="1" sz="1500">
                <a:solidFill>
                  <a:srgbClr val="38BDF8"/>
                </a:solidFill>
              </a:rPr>
              <a:t>• Hardware Latency Constraints:</a:t>
            </a:r>
            <a:r>
              <a:rPr sz="1500">
                <a:solidFill>
                  <a:srgbClr val="F8FAFC"/>
                </a:solidFill>
              </a:rPr>
              <a:t> Telemetry arrives at 1,000+ points/second. Detection algorithms must execute in sub-millisecond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Exploratory Data Analysis: Numenta Anomaly Benchmark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Profiling 58 telemetry series across Cloud, Machine, and Social domains</a:t>
            </a:r>
          </a:p>
        </p:txBody>
      </p:sp>
      <p:pic>
        <p:nvPicPr>
          <p:cNvPr id="3" name="Picture 2" descr="ed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2487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8288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8BDF8"/>
                </a:solidFill>
              </a:defRPr>
            </a:pPr>
            <a:r>
              <a:t>Dataset Characteristics: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Total Benchmark: 58 series, 365,558 points across 6 domains.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Representative Benchmark Slice: 5 streams, 23,395 points used for standardized multi-model bake-offs.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Temporal Resolution: 86% of streams sampled at 5-minute intervals; others at hourly and daily cadence.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Label Sparsity: Only 8 true anomaly windows across the 23,395 benchmark slice (0.03% prevalence), requiring extreme precision to avoid alert fatigue.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Bundled Data Guarantee: 100% of benchmark data and ground-truth windows are included in repo (no external downloads).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End-to-End Causal Streaming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Multi-layer pipeline from point ingestion to machine evidence trails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4ADE80"/>
                </a:solidFill>
                <a:latin typeface="Courier New"/>
              </a:defRPr>
            </a:pPr>
            <a:r>
              <a:t>                                Streaming Ingestion (Point t)</a:t>
            </a:r>
            <a:br/>
            <a:r>
              <a:t>                                              │</a:t>
            </a:r>
            <a:br/>
            <a:r>
              <a:t>                                              ▼</a:t>
            </a:r>
            <a:br/>
            <a:r>
              <a:t>                               [Schema &amp; Timestamp Validator]</a:t>
            </a:r>
            <a:br/>
            <a:r>
              <a:t>                                              │</a:t>
            </a:r>
            <a:br/>
            <a:r>
              <a:t>                                              ▼</a:t>
            </a:r>
            <a:br/>
            <a:r>
              <a:t>                          [Causal Past-Only Feature Buffers]</a:t>
            </a:r>
            <a:br/>
            <a:r>
              <a:t>                                              │</a:t>
            </a:r>
            <a:br/>
            <a:r>
              <a:t>                ┌─────────────────────────────┼─────────────────────────────┐</a:t>
            </a:r>
            <a:br/>
            <a:r>
              <a:t>                ▼                             ▼                             ▼</a:t>
            </a:r>
            <a:br/>
            <a:r>
              <a:t>        [B0: Rolling MAD]              [B1: EWMA]             [B3: Causal TCN-AE (RTX 5050)]</a:t>
            </a:r>
            <a:br/>
            <a:r>
              <a:t>       (Seasonal Differencing)     (Dynamic Alpha Trend)       (Reconstruction Error on CUDA)</a:t>
            </a:r>
            <a:br/>
            <a:r>
              <a:t>                │                             │                             │</a:t>
            </a:r>
            <a:br/>
            <a:r>
              <a:t>                └─────────────────────────────┼─────────────────────────────┘</a:t>
            </a:r>
            <a:br/>
            <a:r>
              <a:t>                                              ▼</a:t>
            </a:r>
            <a:br/>
            <a:r>
              <a:t>                                   [Calibrated Score Fusion]</a:t>
            </a:r>
            <a:br/>
            <a:r>
              <a:t>                                              │</a:t>
            </a:r>
            <a:br/>
            <a:r>
              <a:t>                                              ▼</a:t>
            </a:r>
            <a:br/>
            <a:r>
              <a:t>                             [Likelihood Transform &amp; Standardization]</a:t>
            </a:r>
            <a:br/>
            <a:r>
              <a:t>                                              │</a:t>
            </a:r>
            <a:br/>
            <a:r>
              <a:t>                                              ▼</a:t>
            </a:r>
            <a:br/>
            <a:r>
              <a:t>                        [Hysteresis State Machine (Enter: 6.5 / Exit: 2.5)]</a:t>
            </a:r>
            <a:br/>
            <a:r>
              <a:t>                                              │</a:t>
            </a:r>
            <a:br/>
            <a:r>
              <a:t>                               ┌──────────────┴──────────────┐</a:t>
            </a:r>
            <a:br/>
            <a:r>
              <a:t>                               ▼                             ▼</a:t>
            </a:r>
            <a:br/>
            <a:r>
              <a:t>                  [Guarded Update Controller]        [Evidence Explainer]</a:t>
            </a:r>
            <a:br/>
            <a:r>
              <a:t>                  (Quarantines Anomaly Points)    (Emits JSON &amp; CSV for SRE)</a:t>
            </a:r>
            <a:br/>
            <a:r>
              <a:t>                               │                             │</a:t>
            </a:r>
            <a:br/>
            <a:r>
              <a:t>                               ▼                             ▼</a:t>
            </a:r>
            <a:br/>
            <a:r>
              <a:t>                  [ADWIN Drift Adaptation]           [Organizer Submission CSV]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Mathematical &amp; Algorithmic Rigor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Formulations guaranteeing causality and anti-contamination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38BDF8"/>
                </a:solidFill>
              </a:rPr>
              <a:t>1. Causal Dilated TCN-Autoencoder:</a:t>
            </a:r>
            <a:r>
              <a:rPr sz="1300">
                <a:solidFill>
                  <a:srgbClr val="F8FAFC"/>
                </a:solidFill>
              </a:rPr>
              <a:t> Left-padded causal convolutions guarantee y_t depends strictly on x_{&lt;=t}. Receptive field = 1 + \sum(K_i - 1)D_i. Reconstruction residual |x_t - \hat{x}_t| standardizes against past normal reconstruction error history.</a:t>
            </a:r>
          </a:p>
          <a:p>
            <a:r>
              <a:rPr b="1" sz="1400">
                <a:solidFill>
                  <a:srgbClr val="38BDF8"/>
                </a:solidFill>
              </a:rPr>
              <a:t>2. Dual-Horizon Seasonal Differencing:</a:t>
            </a:r>
            <a:r>
              <a:rPr sz="1300">
                <a:solidFill>
                  <a:srgbClr val="F8FAFC"/>
                </a:solidFill>
              </a:rPr>
              <a:t> Rolling difference against diurnal period (P=288) removes recurring circadian cycles without confusing them with acute anomalies.</a:t>
            </a:r>
          </a:p>
          <a:p>
            <a:r>
              <a:rPr b="1" sz="1400">
                <a:solidFill>
                  <a:srgbClr val="38BDF8"/>
                </a:solidFill>
              </a:rPr>
              <a:t>3. Anti-Contamination Baseline Guard:</a:t>
            </a:r>
            <a:r>
              <a:rPr sz="1300">
                <a:solidFill>
                  <a:srgbClr val="F8FAFC"/>
                </a:solidFill>
              </a:rPr>
              <a:t> Points classified as ANOMALOUS are strictly quarantined from entering baseline rolling median and seasonal buffers. The seasonal buffer imputes clean median values to prevent future ghost echoes.</a:t>
            </a:r>
          </a:p>
          <a:p>
            <a:r>
              <a:rPr b="1" sz="1400">
                <a:solidFill>
                  <a:srgbClr val="38BDF8"/>
                </a:solidFill>
              </a:rPr>
              <a:t>4. Guarded ADWIN Concept Drift Engine:</a:t>
            </a:r>
            <a:r>
              <a:rPr sz="1300">
                <a:solidFill>
                  <a:srgbClr val="F8FAFC"/>
                </a:solidFill>
              </a:rPr>
              <a:t> ADWIN dynamically monitors normalized residuals of accepted normal points using Hoeffding bounds. Transient anomaly spikes are blocked from triggering drift resets.</a:t>
            </a:r>
          </a:p>
          <a:p>
            <a:r>
              <a:rPr b="1" sz="1400">
                <a:solidFill>
                  <a:srgbClr val="38BDF8"/>
                </a:solidFill>
              </a:rPr>
              <a:t>5. Hysteresis Dual Thresholding &amp; Cooldown:</a:t>
            </a:r>
            <a:r>
              <a:rPr sz="1300">
                <a:solidFill>
                  <a:srgbClr val="F8FAFC"/>
                </a:solidFill>
              </a:rPr>
              <a:t> State machine enters at \tau_{enter} = 6.5 and exits only below \tau_{exit} = 2.5, eliminating alert flapping. Adjacent alarms within cooldown C=10 merge into unified incident windows.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Controlled Ablation Study &amp; Empirical Validation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Proving the necessity of each architectural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    Controlled Component Ablation (23,395 Streaming Points, Candidate Adaptation Layer):</a:t>
            </a:r>
            <a:br/>
            <a:br/>
            <a:r>
              <a:t>    • A1: Rolling Median + MAD Alone</a:t>
            </a:r>
            <a:br/>
            <a:r>
              <a:t>      - Event-F1: 0.2069 | Precision: 14.29% | Recall: 37.50% | False Positives: 18 (TP: 3, FN: 5)</a:t>
            </a:r>
            <a:br/>
            <a:r>
              <a:t>      - Finding: Captures localized spikes but generates 18 false alarms on noisy baseline ripples.</a:t>
            </a:r>
            <a:br/>
            <a:br/>
            <a:r>
              <a:t>    • A2: Streaming EWMA Alone (alpha=0.12)</a:t>
            </a:r>
            <a:br/>
            <a:r>
              <a:t>      - Event-F1: 0.1905 | Precision: 15.38% | Recall: 25.00% | False Positives: 11 (TP: 2, FN: 6)</a:t>
            </a:r>
            <a:br/>
            <a:r>
              <a:t>      - Finding: Tracks trends rapidly but misses gradual drift anomalies and has 11 false alarms.</a:t>
            </a:r>
            <a:br/>
            <a:br/>
            <a:r>
              <a:t>    • A3: Causal TCN-AE Alone (CUDA RTX 5050)</a:t>
            </a:r>
            <a:br/>
            <a:r>
              <a:t>      - Event-F1: 0.0952 | Precision: 7.69% | Recall: 12.50% | False Positives: 12 (TP: 1, FN: 7)</a:t>
            </a:r>
            <a:br/>
            <a:r>
              <a:t>      - Finding: High precision potential but susceptible to false reconstruction error without statistical priors.</a:t>
            </a:r>
            <a:br/>
            <a:br/>
            <a:r>
              <a:t>    • A4: Statistical Ensemble (MAD + EWMA without Neural Model)</a:t>
            </a:r>
            <a:br/>
            <a:r>
              <a:t>      - Event-F1: 0.2609 | Precision: 20.00% | Recall: 37.50% | False Positives: 12 (TP: 3, FN: 5)</a:t>
            </a:r>
            <a:br/>
            <a:r>
              <a:t>      - Finding: Statistical fusion improves F1 to 0.2609 but still generates 12 false positives.</a:t>
            </a:r>
            <a:br/>
            <a:br/>
            <a:r>
              <a:t>    • A5: Full Sentinel Hybrid Ensemble (Deep TCN-AE + MAD + EWMA + Guarded ADWIN)</a:t>
            </a:r>
            <a:br/>
            <a:r>
              <a:t>      - Event-F1: 0.3750 | Precision: 37.50% | Recall: 37.50% | False Positives: 5 (TP: 3, FN: 5)</a:t>
            </a:r>
            <a:br/>
            <a:r>
              <a:t>      - Key Discovery: Integrating deep causal reconstruction cuts false alarms by 58.3% (12 -&gt; 5 FP), boosting Event-F1 from 0.2609 to 0.3750 (+43.7% relative gain)!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Rigorous Evaluation Protocol (Utkrishta 2026)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Organizer-aligned range-based event matching without point adjustment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400">
                <a:solidFill>
                  <a:srgbClr val="38BDF8"/>
                </a:solidFill>
              </a:rPr>
              <a:t>• Event-Based F1 Metric:</a:t>
            </a:r>
            <a:r>
              <a:rPr sz="1400">
                <a:solidFill>
                  <a:srgbClr val="F8FAFC"/>
                </a:solidFill>
              </a:rPr>
              <a:t> Range-based overlap matching (Kim et al., AAAI 2022; Tatbul et al., NeurIPS 2018). An alert is a True Positive if any predicted point intersects the organizer's ground truth interval [W_{start}, W_{end}].</a:t>
            </a:r>
          </a:p>
          <a:p>
            <a:r>
              <a:rPr b="1" sz="1400">
                <a:solidFill>
                  <a:srgbClr val="38BDF8"/>
                </a:solidFill>
              </a:rPr>
              <a:t>• Strict Anti-Gaming Guarantee:</a:t>
            </a:r>
            <a:r>
              <a:rPr sz="1400">
                <a:solidFill>
                  <a:srgbClr val="F8FAFC"/>
                </a:solidFill>
              </a:rPr>
              <a:t> No Point-Adjustment (PA) trickery. Point adjustment artificially inflates F1 to 0.90+ by marking all points in an anomaly window correct if a single point triggers. Sentinel uses pure range-based matching.</a:t>
            </a:r>
          </a:p>
          <a:p>
            <a:r>
              <a:rPr b="1" sz="1400">
                <a:solidFill>
                  <a:srgbClr val="38BDF8"/>
                </a:solidFill>
              </a:rPr>
              <a:t>• Multiple Triggers Count Once:</a:t>
            </a:r>
            <a:r>
              <a:rPr sz="1400">
                <a:solidFill>
                  <a:srgbClr val="F8FAFC"/>
                </a:solidFill>
              </a:rPr>
              <a:t> Multiple predictions within a single ground truth window count as exactly ONE True Positive match, penalizing duplicate event fragmentation.</a:t>
            </a:r>
          </a:p>
          <a:p>
            <a:r>
              <a:rPr b="1" sz="1400">
                <a:solidFill>
                  <a:srgbClr val="38BDF8"/>
                </a:solidFill>
              </a:rPr>
              <a:t>• Spurious Events Penalized:</a:t>
            </a:r>
            <a:r>
              <a:rPr sz="1400">
                <a:solidFill>
                  <a:srgbClr val="F8FAFC"/>
                </a:solidFill>
              </a:rPr>
              <a:t> Every predicted event outside ground-truth intervals is registered as a False Positive.</a:t>
            </a:r>
          </a:p>
          <a:p>
            <a:r>
              <a:rPr b="1" sz="1400">
                <a:solidFill>
                  <a:srgbClr val="38BDF8"/>
                </a:solidFill>
              </a:rPr>
              <a:t>• Detection Delay Metric:</a:t>
            </a:r>
            <a:r>
              <a:rPr sz="1400">
                <a:solidFill>
                  <a:srgbClr val="F8FAFC"/>
                </a:solidFill>
              </a:rPr>
              <a:t> Measures time delta between ground truth incident onset and Sentinel's first emitted alert trigger.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Benchmark Results &amp; False Alarm Suppression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Empirical comparison across 23,395 streaming points on RTX 5050 GPU</a:t>
            </a:r>
          </a:p>
        </p:txBody>
      </p:sp>
      <p:pic>
        <p:nvPicPr>
          <p:cNvPr id="3" name="Picture 2" descr="scorecar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560320"/>
          </a:xfrm>
          <a:prstGeom prst="rect">
            <a:avLst/>
          </a:prstGeom>
        </p:spPr>
      </p:pic>
      <p:pic>
        <p:nvPicPr>
          <p:cNvPr id="4" name="Picture 3" descr="false_positive_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Streaming Anomaly Capture &amp; Evidence Trail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Machine-verifiable explanation records generated for every detected incident</a:t>
            </a:r>
          </a:p>
        </p:txBody>
      </p:sp>
      <p:pic>
        <p:nvPicPr>
          <p:cNvPr id="3" name="Picture 2" descr="true_positiv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2304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Deterministic Evidence Card:</a:t>
            </a:r>
          </a:p>
          <a:p>
            <a:pPr>
              <a:defRPr sz="1000">
                <a:solidFill>
                  <a:srgbClr val="4ADE80"/>
                </a:solidFill>
                <a:latin typeface="Courier New"/>
              </a:defRPr>
            </a:pPr>
            <a:r>
              <a:t>{</a:t>
            </a:r>
            <a:br/>
            <a:r>
              <a:t>  "event_id": "11_evt_0001",</a:t>
            </a:r>
            <a:br/>
            <a:r>
              <a:t>  "series_id": "11",</a:t>
            </a:r>
            <a:br/>
            <a:r>
              <a:t>  "timestamp": "2014-02-26 22:15:00",</a:t>
            </a:r>
            <a:br/>
            <a:r>
              <a:t>  "observed": 0.066,</a:t>
            </a:r>
            <a:br/>
            <a:r>
              <a:t>  "expected_baseline": 0.113,</a:t>
            </a:r>
            <a:br/>
            <a:r>
              <a:t>  "residual_delta": "-0.047 (-41.7%)",</a:t>
            </a:r>
            <a:br/>
            <a:r>
              <a:t>  "anomaly_score": 7.88,</a:t>
            </a:r>
            <a:br/>
            <a:r>
              <a:t>  "applied_threshold": 6.50,</a:t>
            </a:r>
            <a:br/>
            <a:r>
              <a:t>  "reason_codes": [</a:t>
            </a:r>
            <a:br/>
            <a:r>
              <a:t>    "THRESHOLD_EXCEEDED",</a:t>
            </a:r>
            <a:br/>
            <a:r>
              <a:t>    "EVENT_START"</a:t>
            </a:r>
            <a:br/>
            <a:r>
              <a:t>  ],</a:t>
            </a:r>
            <a:br/>
            <a:r>
              <a:t>  "detector_version": "sentinel-deep-0.2.0"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UTKRISHTA 2026 — CHALLENGE 2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Honest Limitations &amp; Sentinel 2.0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Production operational realities and verified next-gen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38BDF8"/>
                </a:solidFill>
              </a:rPr>
              <a:t>• Honest System Limitations:</a:t>
            </a:r>
            <a:r>
              <a:rPr sz="1200">
                <a:solidFill>
                  <a:srgbClr val="F8FAFC"/>
                </a:solidFill>
              </a:rPr>
              <a:t> 1) 8 ground truth events in test slice is a compact sample; per-series confidence bounds are recommended. 2) Very slow multi-week variance decay requires persistent cold-storage state beyond memory buffers. 3) Batch-size-1 deep neural inference incurs kernel overhead on low-end CPUs without quantization.</a:t>
            </a:r>
          </a:p>
          <a:p>
            <a:r>
              <a:rPr b="1" sz="1300">
                <a:solidFill>
                  <a:srgbClr val="38BDF8"/>
                </a:solidFill>
              </a:rPr>
              <a:t>• Sentinel 2.0 Innovation 1 — Conformal Anomaly Detection (CAD):</a:t>
            </a:r>
            <a:r>
              <a:rPr sz="1200">
                <a:solidFill>
                  <a:srgbClr val="F8FAFC"/>
                </a:solidFill>
              </a:rPr>
              <a:t> Implemented finite-sample statistical risk control: P(False Alarm | Normal) &lt;= alpha, providing mathematical bounds on false positive rate.</a:t>
            </a:r>
          </a:p>
          <a:p>
            <a:r>
              <a:rPr b="1" sz="1300">
                <a:solidFill>
                  <a:srgbClr val="38BDF8"/>
                </a:solidFill>
              </a:rPr>
              <a:t>• Sentinel 2.0 Innovation 2 — Operator Feedback Memory Bank:</a:t>
            </a:r>
            <a:r>
              <a:rPr sz="1200">
                <a:solidFill>
                  <a:srgbClr val="F8FAFC"/>
                </a:solidFill>
              </a:rPr>
              <a:t> Cosine similarity matching over normalized anomaly signatures allows SREs to suppress known false alarms (e.g., scheduled database backups) with ZERO model retraining.</a:t>
            </a:r>
          </a:p>
          <a:p>
            <a:r>
              <a:rPr b="1" sz="1300">
                <a:solidFill>
                  <a:srgbClr val="38BDF8"/>
                </a:solidFill>
              </a:rPr>
              <a:t>• Sentinel 2.0 Innovation 3 — Automated Causal Periodicity Discovery:</a:t>
            </a:r>
            <a:r>
              <a:rPr sz="1200">
                <a:solidFill>
                  <a:srgbClr val="F8FAFC"/>
                </a:solidFill>
              </a:rPr>
              <a:t> Causal autocorrelation peak detection infers dominant seasonal rhythms from streaming warm-up buffers without manual period specification.</a:t>
            </a:r>
          </a:p>
          <a:p>
            <a:r>
              <a:rPr b="1" sz="1300">
                <a:solidFill>
                  <a:srgbClr val="38BDF8"/>
                </a:solidFill>
              </a:rPr>
              <a:t>• Conclusion:</a:t>
            </a:r>
            <a:r>
              <a:rPr sz="1200">
                <a:solidFill>
                  <a:srgbClr val="F8FAFC"/>
                </a:solidFill>
              </a:rPr>
              <a:t> Sentinel establishes an uncompromised balance of mathematical causality, baseline anti-contamination, hardware efficiency (916 pts/sec on RTX 5050), and transparent explainability.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